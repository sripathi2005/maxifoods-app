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221C16"/>
          </a:solidFill>
          <a:ln w="25400">
            <a:solidFill>
              <a:srgbClr val="E8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463040"/>
            <a:ext cx="9601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8A33D"/>
                </a:solidFill>
                <a:latin typeface="Arial"/>
              </a:defRPr>
            </a:pPr>
            <a:r>
              <a:t>FOOD DELIVERY CUSTOMER INTELLIGENCE</a:t>
            </a:r>
          </a:p>
          <a:p>
            <a:pPr>
              <a:spcBef>
                <a:spcPts val="1000"/>
              </a:spcBef>
              <a:defRPr sz="2800" b="1">
                <a:solidFill>
                  <a:srgbClr val="FFFFFF"/>
                </a:solidFill>
                <a:latin typeface="Georgia"/>
              </a:defRPr>
            </a:pPr>
            <a:r>
              <a:t>Using Data Warehouse, Market Basket Analysis &amp; BI Dashboard</a:t>
            </a:r>
          </a:p>
          <a:p>
            <a:pPr>
              <a:spcBef>
                <a:spcPts val="1600"/>
              </a:spcBef>
              <a:defRPr sz="1400">
                <a:solidFill>
                  <a:srgbClr val="B4AAA0"/>
                </a:solidFill>
                <a:latin typeface="Arial"/>
              </a:defRPr>
            </a:pPr>
            <a:r>
              <a:t>Real Swiggy Chennai Food Delivery Dataset (917,000+ Transaction Records)</a:t>
            </a:r>
          </a:p>
          <a:p>
            <a:pPr>
              <a:spcBef>
                <a:spcPts val="2400"/>
              </a:spcBef>
              <a:defRPr sz="1300" b="1">
                <a:solidFill>
                  <a:srgbClr val="5C8368"/>
                </a:solidFill>
                <a:latin typeface="Arial"/>
              </a:defRPr>
            </a:pPr>
            <a:r>
              <a:t>Core Stack: PostgreSQL 18 | KNIME Analytics | Python (Scikit-learn) | Power BI | FastAPI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A33D"/>
                </a:solidFill>
                <a:latin typeface="Arial"/>
              </a:defRPr>
            </a:pPr>
            <a:r>
              <a:t>CAPSTONE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Georgia"/>
              </a:defRPr>
            </a:pPr>
            <a:r>
              <a:t>1. Executive Introduction &amp;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221C16"/>
          </a:solidFill>
          <a:ln w="19050">
            <a:solidFill>
              <a:srgbClr val="E8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8A33D"/>
                </a:solidFill>
                <a:latin typeface="Georgia"/>
              </a:defRPr>
            </a:pPr>
            <a:r>
              <a:t>Industry Challenge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Food delivery platforms process massive multi-dimensional transactional logs daily.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Raw transactional logs are unorganized and difficult to query for business intelligence.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Restaurant owners lack actionable data on hourly demand and combo item sales.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221C16"/>
          </a:solidFill>
          <a:ln w="19050">
            <a:solidFill>
              <a:srgbClr val="5C8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C8368"/>
                </a:solidFill>
                <a:latin typeface="Georgia"/>
              </a:defRPr>
            </a:pPr>
            <a:r>
              <a:t>Target Real Dataset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Swiggy Chennai Dataset (swiggy_chennai_data.csv - 114.59 MB).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Covers 10 iconic Chennai restaurants across key sub-localities (T. Nagar, Adyar, Porur, OMR, etc.).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Includes 4,232 real dishes, category tags, and exact pricing in Rupees (₹).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221C16"/>
          </a:solidFill>
          <a:ln w="19050">
            <a:solidFill>
              <a:srgbClr val="C45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4572E"/>
                </a:solidFill>
                <a:latin typeface="Georgia"/>
              </a:defRPr>
            </a:pPr>
            <a:r>
              <a:t>The MaxiFoods Solution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Constructed a 6-Table Star Schema Data Warehouse in PostgreSQL.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Automated data extraction and loading using KNIME ETL Workflows.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Mined Apriori association rules and RFM K-Means customer clusters.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Delivered dual dashboards: Power BI (.pbix) &amp; Full-Stack Web App.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A33D"/>
                </a:solidFill>
                <a:latin typeface="Arial"/>
              </a:defRPr>
            </a:pPr>
            <a:r>
              <a:t>CAPSTONE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Georgia"/>
              </a:defRPr>
            </a:pPr>
            <a:r>
              <a:t>2. 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221C16"/>
          </a:solidFill>
          <a:ln w="19050">
            <a:solidFill>
              <a:srgbClr val="E8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8A33D"/>
                </a:solidFill>
                <a:latin typeface="Georgia"/>
              </a:defRPr>
            </a:pPr>
            <a:r>
              <a:t>1. Data Fragmentation &amp; Un-normalized Logs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Raw CSV logs store redundant strings making aggregated analytical queries extremely slow.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Lack of relational constraints between customers, orders, dishes, and time windows.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221C16"/>
          </a:solidFill>
          <a:ln w="19050">
            <a:solidFill>
              <a:srgbClr val="C45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4572E"/>
                </a:solidFill>
                <a:latin typeface="Georgia"/>
              </a:defRPr>
            </a:pPr>
            <a:r>
              <a:t>2. Missed Cross-Selling Combo Revenue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Restaurants fail to identify frequently co-purchased items (e.g. Idli + Sambar / Biryani + Raita).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Inability to present smart automated pairing recommendations during customer checkout.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221C16"/>
          </a:solidFill>
          <a:ln w="19050">
            <a:solidFill>
              <a:srgbClr val="5C8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47548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C8368"/>
                </a:solidFill>
                <a:latin typeface="Georgia"/>
              </a:defRPr>
            </a:pPr>
            <a:r>
              <a:t>3. Seasonal Dietary &amp; Fasting Shifts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Dietary preferences shift dramatically during Indian fasting windows (Shravan, Navratri).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Restaurants face stock shortages of vegetarian items or non-veg food wastage without forecasting.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5212080" cy="2194560"/>
          </a:xfrm>
          <a:prstGeom prst="roundRect">
            <a:avLst/>
          </a:prstGeom>
          <a:solidFill>
            <a:srgbClr val="221C16"/>
          </a:solidFill>
          <a:ln w="19050">
            <a:solidFill>
              <a:srgbClr val="E8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976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8A33D"/>
                </a:solidFill>
                <a:latin typeface="Georgia"/>
              </a:defRPr>
            </a:pPr>
            <a:r>
              <a:t>4. Absence of Executive BI Dashboards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Restaurant managers lack real-time visual tools to monitor order volume, repeat rates, and peak hours.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Decision-making relies on intuition rather than empirical SQL and Data Mining analytics.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A33D"/>
                </a:solidFill>
                <a:latin typeface="Arial"/>
              </a:defRPr>
            </a:pPr>
            <a:r>
              <a:t>CAPSTONE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Georgia"/>
              </a:defRPr>
            </a:pPr>
            <a:r>
              <a:t>3. Key Project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221C16"/>
          </a:solidFill>
          <a:ln w="19050">
            <a:solidFill>
              <a:srgbClr val="E8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8A33D"/>
                </a:solidFill>
                <a:latin typeface="Georgia"/>
              </a:defRPr>
            </a:pPr>
            <a:r>
              <a:t>1. Data Warehouse Design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Engineer a normalized 6-Table Star Schema in PostgreSQL 18.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Model dim_restaurant, dim_food_item, dim_customer, dim_time, fact_orders, fact_order_items.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221C16"/>
          </a:solidFill>
          <a:ln w="19050">
            <a:solidFill>
              <a:srgbClr val="5C8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C8368"/>
                </a:solidFill>
                <a:latin typeface="Georgia"/>
              </a:defRPr>
            </a:pPr>
            <a:r>
              <a:t>2. ETL Pipeline Automation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Build an automated visual ETL workflow in KNIME Analytics Platform.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Utilize CSV Reader, PostgreSQL Connector, and DB Writer nodes for zero-loss ingestion.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221C16"/>
          </a:solidFill>
          <a:ln w="19050">
            <a:solidFill>
              <a:srgbClr val="C45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47548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4572E"/>
                </a:solidFill>
                <a:latin typeface="Georgia"/>
              </a:defRPr>
            </a:pPr>
            <a:r>
              <a:t>3. Data Mining &amp; ML Algorithms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Apply Apriori Algorithm (Mlxtend) for high-lift Market Basket association rules.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Execute K-Means Clustering (Scikit-learn) for RFM Customer Segmentation.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5212080" cy="2194560"/>
          </a:xfrm>
          <a:prstGeom prst="roundRect">
            <a:avLst/>
          </a:prstGeom>
          <a:solidFill>
            <a:srgbClr val="221C16"/>
          </a:solidFill>
          <a:ln w="19050">
            <a:solidFill>
              <a:srgbClr val="E8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976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8A33D"/>
                </a:solidFill>
                <a:latin typeface="Georgia"/>
              </a:defRPr>
            </a:pPr>
            <a:r>
              <a:t>4. Interactive BI &amp; Web Analytics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Develop an interactive Power BI Desktop Report (.pbix) connected to PostgreSQL.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Deploy a full-stack Web Application (FastAPI + Chart.js) with 12-month filtering.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A33D"/>
                </a:solidFill>
                <a:latin typeface="Arial"/>
              </a:defRPr>
            </a:pPr>
            <a:r>
              <a:t>CAPSTONE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Georgia"/>
              </a:defRPr>
            </a:pPr>
            <a:r>
              <a:t>4. System Architecture &amp; Component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663440"/>
          </a:xfrm>
          <a:prstGeom prst="roundRect">
            <a:avLst/>
          </a:prstGeom>
          <a:solidFill>
            <a:srgbClr val="221C16"/>
          </a:solidFill>
          <a:ln w="19050">
            <a:solidFill>
              <a:srgbClr val="E8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8A33D"/>
                </a:solidFill>
                <a:latin typeface="Arial"/>
              </a:defRPr>
            </a:pPr>
            <a:r>
              <a:t>[RAW DATASET] Swiggy Chennai Data (swiggy_chennai_data.csv)</a:t>
            </a:r>
          </a:p>
          <a:p>
            <a:pPr>
              <a:defRPr sz="1300" b="0">
                <a:solidFill>
                  <a:srgbClr val="FFFFFF"/>
                </a:solidFill>
                <a:latin typeface="Consolas"/>
              </a:defRPr>
            </a:pPr>
            <a:r>
              <a:t>       │</a:t>
            </a:r>
          </a:p>
          <a:p>
            <a:pPr>
              <a:defRPr sz="1300" b="0">
                <a:solidFill>
                  <a:srgbClr val="FFFFFF"/>
                </a:solidFill>
                <a:latin typeface="Consolas"/>
              </a:defRPr>
            </a:pPr>
            <a:r>
              <a:t>       ▼</a:t>
            </a:r>
          </a:p>
          <a:p>
            <a:pPr>
              <a:defRPr sz="1300" b="1">
                <a:solidFill>
                  <a:srgbClr val="E8A33D"/>
                </a:solidFill>
                <a:latin typeface="Arial"/>
              </a:defRPr>
            </a:pPr>
            <a:r>
              <a:t>[MODULE 1: ETL] KNIME Analytics Platform (CSV Reader ➔ PostgreSQL Connector ➔ DB Writer)</a:t>
            </a:r>
          </a:p>
          <a:p>
            <a:pPr>
              <a:defRPr sz="1300" b="0">
                <a:solidFill>
                  <a:srgbClr val="FFFFFF"/>
                </a:solidFill>
                <a:latin typeface="Consolas"/>
              </a:defRPr>
            </a:pPr>
            <a:r>
              <a:t>       │</a:t>
            </a:r>
          </a:p>
          <a:p>
            <a:pPr>
              <a:defRPr sz="1300" b="0">
                <a:solidFill>
                  <a:srgbClr val="FFFFFF"/>
                </a:solidFill>
                <a:latin typeface="Consolas"/>
              </a:defRPr>
            </a:pPr>
            <a:r>
              <a:t>       ▼</a:t>
            </a:r>
          </a:p>
          <a:p>
            <a:pPr>
              <a:defRPr sz="1300" b="1">
                <a:solidFill>
                  <a:srgbClr val="E8A33D"/>
                </a:solidFill>
                <a:latin typeface="Arial"/>
              </a:defRPr>
            </a:pPr>
            <a:r>
              <a:t>[MODULE 2: DATA WAREHOUSE] PostgreSQL 18 maxifoods DB (Star Schema: 4 Dimensions + 2 Fact Tables)</a:t>
            </a:r>
          </a:p>
          <a:p>
            <a:pPr>
              <a:defRPr sz="1300" b="1">
                <a:solidFill>
                  <a:srgbClr val="E8A33D"/>
                </a:solidFill>
                <a:latin typeface="Arial"/>
              </a:defRPr>
            </a:pPr>
            <a:r>
              <a:t>       ├───&gt; [MODULE 3: DATA MINING] Python Scikit-learn (RFM K-Means) &amp; Mlxtend (Apriori Basket Rules)</a:t>
            </a:r>
          </a:p>
          <a:p>
            <a:pPr>
              <a:defRPr sz="1300" b="0">
                <a:solidFill>
                  <a:srgbClr val="FFFFFF"/>
                </a:solidFill>
                <a:latin typeface="Consolas"/>
              </a:defRPr>
            </a:pPr>
            <a:r>
              <a:t>       │</a:t>
            </a:r>
          </a:p>
          <a:p>
            <a:pPr>
              <a:defRPr sz="1300" b="1">
                <a:solidFill>
                  <a:srgbClr val="E8A33D"/>
                </a:solidFill>
                <a:latin typeface="Arial"/>
              </a:defRPr>
            </a:pPr>
            <a:r>
              <a:t>       ├───&gt; [MODULE 5: BI VISUALIZATION] Power BI Desktop Report (MaxiFoods_PowerBI_Report.pbix)</a:t>
            </a:r>
          </a:p>
          <a:p>
            <a:pPr>
              <a:defRPr sz="1300" b="0">
                <a:solidFill>
                  <a:srgbClr val="FFFFFF"/>
                </a:solidFill>
                <a:latin typeface="Consolas"/>
              </a:defRPr>
            </a:pPr>
            <a:r>
              <a:t>       │</a:t>
            </a:r>
          </a:p>
          <a:p>
            <a:pPr>
              <a:defRPr sz="1300" b="1">
                <a:solidFill>
                  <a:srgbClr val="E8A33D"/>
                </a:solidFill>
                <a:latin typeface="Arial"/>
              </a:defRPr>
            </a:pPr>
            <a:r>
              <a:t>       └───&gt; [MODULE 4 &amp; 6: FULL-STACK WEB APP] FastAPI REST Backend + HTML5/Chart.js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A33D"/>
                </a:solidFill>
                <a:latin typeface="Arial"/>
              </a:defRPr>
            </a:pPr>
            <a:r>
              <a:t>CAPSTONE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Georgia"/>
              </a:defRPr>
            </a:pPr>
            <a:r>
              <a:t>5. Official Technology Stack Selection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2194560"/>
          </a:xfrm>
          <a:prstGeom prst="roundRect">
            <a:avLst/>
          </a:prstGeom>
          <a:solidFill>
            <a:srgbClr val="221C16"/>
          </a:solidFill>
          <a:ln w="19050">
            <a:solidFill>
              <a:srgbClr val="E8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8A33D"/>
                </a:solidFill>
                <a:latin typeface="Georgia"/>
              </a:defRPr>
            </a:pPr>
            <a:r>
              <a:t>1. Data Warehouse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Tool: PostgreSQL Server 18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GUI Client: pgAdmin 4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Database: maxifoods Star Schema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2194560"/>
          </a:xfrm>
          <a:prstGeom prst="roundRect">
            <a:avLst/>
          </a:prstGeom>
          <a:solidFill>
            <a:srgbClr val="221C16"/>
          </a:solidFill>
          <a:ln w="19050">
            <a:solidFill>
              <a:srgbClr val="5C8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C8368"/>
                </a:solidFill>
                <a:latin typeface="Georgia"/>
              </a:defRPr>
            </a:pPr>
            <a:r>
              <a:t>2. ETL Pipeline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Tool: KNIME Analytics Platform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Nodes: CSV Reader, PostgreSQL Connector, DB Writer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Status: 100% Executed &amp; Green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2194560"/>
          </a:xfrm>
          <a:prstGeom prst="roundRect">
            <a:avLst/>
          </a:prstGeom>
          <a:solidFill>
            <a:srgbClr val="221C16"/>
          </a:solidFill>
          <a:ln w="19050">
            <a:solidFill>
              <a:srgbClr val="C45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4572E"/>
                </a:solidFill>
                <a:latin typeface="Georgia"/>
              </a:defRPr>
            </a:pPr>
            <a:r>
              <a:t>3. Data Mining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Tool: Python (Scikit-learn &amp; Mlxtend)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Models: K-Means Clustering (RFM)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Rules: Apriori Association Mining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3291840" cy="2194560"/>
          </a:xfrm>
          <a:prstGeom prst="roundRect">
            <a:avLst/>
          </a:prstGeom>
          <a:solidFill>
            <a:srgbClr val="221C16"/>
          </a:solidFill>
          <a:ln w="19050">
            <a:solidFill>
              <a:srgbClr val="5C8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976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C8368"/>
                </a:solidFill>
                <a:latin typeface="Georgia"/>
              </a:defRPr>
            </a:pPr>
            <a:r>
              <a:t>4. Programming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Languages: Python 3.13 &amp; SQL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Backend Framework: FastAPI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ORM: SQLAlchemy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4114800"/>
            <a:ext cx="3291840" cy="2194560"/>
          </a:xfrm>
          <a:prstGeom prst="roundRect">
            <a:avLst/>
          </a:prstGeom>
          <a:solidFill>
            <a:srgbClr val="221C16"/>
          </a:solidFill>
          <a:ln w="19050">
            <a:solidFill>
              <a:srgbClr val="C45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2976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4572E"/>
                </a:solidFill>
                <a:latin typeface="Georgia"/>
              </a:defRPr>
            </a:pPr>
            <a:r>
              <a:t>5. Visualization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Tool: Power BI Desktop &amp; Chart.js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Connection: Direct PostgreSQL OLAP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Visuals: Bar, Line, Donut &amp; Slicers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114800"/>
            <a:ext cx="3383280" cy="2194560"/>
          </a:xfrm>
          <a:prstGeom prst="roundRect">
            <a:avLst/>
          </a:prstGeom>
          <a:solidFill>
            <a:srgbClr val="221C16"/>
          </a:solidFill>
          <a:ln w="19050">
            <a:solidFill>
              <a:srgbClr val="E8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2976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8A33D"/>
                </a:solidFill>
                <a:latin typeface="Georgia"/>
              </a:defRPr>
            </a:pPr>
            <a:r>
              <a:t>6. Reporting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Reports: Power BI Report (.pbix)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Web KPI Strip: Live SQL Aggregations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Monthly Filter: Jan - Dec Dropdown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A33D"/>
                </a:solidFill>
                <a:latin typeface="Arial"/>
              </a:defRPr>
            </a:pPr>
            <a:r>
              <a:t>CAPSTONE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Georgia"/>
              </a:defRPr>
            </a:pPr>
            <a:r>
              <a:t>6. Detailed Project Modules Breakdown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221C16"/>
          </a:solidFill>
          <a:ln w="19050">
            <a:solidFill>
              <a:srgbClr val="E8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8A33D"/>
                </a:solidFill>
                <a:latin typeface="Georgia"/>
              </a:defRPr>
            </a:pPr>
            <a:r>
              <a:t>Module 1 &amp; 2: ETL &amp; Data Warehouse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KNIME ETL automated ingestion from raw CSV to PostgreSQL DB.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PostgreSQL maxifoods Star Schema with 41,591 orders and 82,810 line items.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Indexed Foreign Key constraints between Fact and Dimension tables.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221C16"/>
          </a:solidFill>
          <a:ln w="19050">
            <a:solidFill>
              <a:srgbClr val="C45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4572E"/>
                </a:solidFill>
                <a:latin typeface="Georgia"/>
              </a:defRPr>
            </a:pPr>
            <a:r>
              <a:t>Module 3: Machine Learning &amp; Mining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Apriori Algorithm computed item basket pairing rules stored in analytics_market_basket_rules.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RFM K-Means Clustering segmented 450 Chennai customers into 4 behavioral segments.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221C16"/>
          </a:solidFill>
          <a:ln w="19050">
            <a:solidFill>
              <a:srgbClr val="5C8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47548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C8368"/>
                </a:solidFill>
                <a:latin typeface="Georgia"/>
              </a:defRPr>
            </a:pPr>
            <a:r>
              <a:t>Module 4: REST API Backend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FastAPI service running live on http://127.0.0.1:8000.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Bcrypt password hashing + JWT token authentication for customer and owner roles.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APScheduler background job periodically refreshing analytics tables.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5212080" cy="2194560"/>
          </a:xfrm>
          <a:prstGeom prst="roundRect">
            <a:avLst/>
          </a:prstGeom>
          <a:solidFill>
            <a:srgbClr val="221C16"/>
          </a:solidFill>
          <a:ln w="19050">
            <a:solidFill>
              <a:srgbClr val="E8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976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8A33D"/>
                </a:solidFill>
                <a:latin typeface="Georgia"/>
              </a:defRPr>
            </a:pPr>
            <a:r>
              <a:t>Module 5 &amp; 6: BI &amp; Web Dashboard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Power BI Desktop Report (MaxiFoods_PowerBI_Report.pbix) with interactive slicers.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HTML5 / Chart.js web frontend with 12-month dropdown and live SQL KPI metrics.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A33D"/>
                </a:solidFill>
                <a:latin typeface="Arial"/>
              </a:defRPr>
            </a:pPr>
            <a:r>
              <a:t>CAPSTONE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Georgia"/>
              </a:defRPr>
            </a:pPr>
            <a:r>
              <a:t>7. Analytical Findings &amp;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221C16"/>
          </a:solidFill>
          <a:ln w="19050">
            <a:solidFill>
              <a:srgbClr val="E8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8A33D"/>
                </a:solidFill>
                <a:latin typeface="Georgia"/>
              </a:defRPr>
            </a:pPr>
            <a:r>
              <a:t>1. Market Basket Pairings (Apriori)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Discovered high-lift dish combinations (e.g. Idli + Sambar / Biryani + Raita).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Displayed real-time recommendation pairings on customer checkout.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221C16"/>
          </a:solidFill>
          <a:ln w="19050">
            <a:solidFill>
              <a:srgbClr val="5C8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C8368"/>
                </a:solidFill>
                <a:latin typeface="Georgia"/>
              </a:defRPr>
            </a:pPr>
            <a:r>
              <a:t>2. Fasting Season Dietary Shift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During Shravan (August) &amp; Navratri (April/October), vegetarian orders shift to 68.1% (vs 34.8% normally).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Enables restaurant managers to stock higher veg inventory during fasting weeks.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221C16"/>
          </a:solidFill>
          <a:ln w="19050">
            <a:solidFill>
              <a:srgbClr val="C45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47548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4572E"/>
                </a:solidFill>
                <a:latin typeface="Georgia"/>
              </a:defRPr>
            </a:pPr>
            <a:r>
              <a:t>3. Hourly Peak Demand Windows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Evening (5 PM - 9 PM) represents peak demand accounting for &gt;40% of daily volume.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Guides kitchen staffing and delivery fleet optimization.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5212080" cy="2194560"/>
          </a:xfrm>
          <a:prstGeom prst="roundRect">
            <a:avLst/>
          </a:prstGeom>
          <a:solidFill>
            <a:srgbClr val="221C16"/>
          </a:solidFill>
          <a:ln w="19050">
            <a:solidFill>
              <a:srgbClr val="E8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976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8A33D"/>
                </a:solidFill>
                <a:latin typeface="Georgia"/>
              </a:defRPr>
            </a:pPr>
            <a:r>
              <a:t>4. Overall Chennai Data Scale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Mined 41,591 orders generating ₹14.14 Million total revenue.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Covers 10 real Chennai restaurants across T. Nagar, Adyar, Nungambakkam, Porur, Velachery, OMR.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A33D"/>
                </a:solidFill>
                <a:latin typeface="Arial"/>
              </a:defRPr>
            </a:pPr>
            <a:r>
              <a:t>CAPSTONE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Georgia"/>
              </a:defRPr>
            </a:pPr>
            <a:r>
              <a:t>8. Conclusion &amp;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221C16"/>
          </a:solidFill>
          <a:ln w="19050">
            <a:solidFill>
              <a:srgbClr val="E8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1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8A33D"/>
                </a:solidFill>
                <a:latin typeface="Georgia"/>
              </a:defRPr>
            </a:pPr>
            <a:r>
              <a:t>Summary of Achievements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100% Syllabus Tool Alignment: Strictly implemented PostgreSQL, KNIME, Python Scikit-learn, Power BI, Python &amp; SQL.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Real Localized Dataset: Successfully transformed raw Swiggy Chennai data into a high-performance Star Schema Data Warehouse.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Data Mining Pipeline: Successfully integrated Apriori association rules and RFM K-Means customer segmentation into live SQL tables.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Production-Grade Web Application: Delivered FastAPI backend with JWT Auth, REST APIs, and responsive Chart.js dashboard.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Business Impact: Empowers Chennai restaurant owners with data-driven decision making for pricing, inventory, and marketing.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221C16"/>
          </a:solidFill>
          <a:ln w="25400">
            <a:solidFill>
              <a:srgbClr val="E8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463040"/>
            <a:ext cx="9601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E8A33D"/>
                </a:solidFill>
                <a:latin typeface="Georgia"/>
              </a:defRPr>
            </a:pPr>
            <a:r>
              <a:t>THANK YOU!</a:t>
            </a:r>
          </a:p>
          <a:p>
            <a:pPr>
              <a:spcBef>
                <a:spcPts val="1200"/>
              </a:spcBef>
              <a:defRPr sz="2200" b="1">
                <a:solidFill>
                  <a:srgbClr val="FFFFFF"/>
                </a:solidFill>
                <a:latin typeface="Georgia"/>
              </a:defRPr>
            </a:pPr>
            <a:r>
              <a:t>Questions &amp; Demonstration Phase</a:t>
            </a:r>
          </a:p>
          <a:p>
            <a:pPr>
              <a:spcBef>
                <a:spcPts val="800"/>
              </a:spcBef>
              <a:defRPr sz="1300">
                <a:solidFill>
                  <a:srgbClr val="B4AAA0"/>
                </a:solidFill>
                <a:latin typeface="Arial"/>
              </a:defRPr>
            </a:pPr>
            <a:r>
              <a:t>1. Web Application: http://localhost:8000 (FastAPI + Chart.js)</a:t>
            </a:r>
          </a:p>
          <a:p>
            <a:pPr>
              <a:spcBef>
                <a:spcPts val="800"/>
              </a:spcBef>
              <a:defRPr sz="1300">
                <a:solidFill>
                  <a:srgbClr val="B4AAA0"/>
                </a:solidFill>
                <a:latin typeface="Arial"/>
              </a:defRPr>
            </a:pPr>
            <a:r>
              <a:t>2. PostgreSQL Database: maxifoods in pgAdmin 4 (6 Star Schema Tables)</a:t>
            </a:r>
          </a:p>
          <a:p>
            <a:pPr>
              <a:spcBef>
                <a:spcPts val="800"/>
              </a:spcBef>
              <a:defRPr sz="1300">
                <a:solidFill>
                  <a:srgbClr val="B4AAA0"/>
                </a:solidFill>
                <a:latin typeface="Arial"/>
              </a:defRPr>
            </a:pPr>
            <a:r>
              <a:t>3. KNIME ETL Workflow: capstone.knwf (CSV Reader ➔ DB Connector ➔ DB Writer)</a:t>
            </a:r>
          </a:p>
          <a:p>
            <a:pPr>
              <a:spcBef>
                <a:spcPts val="800"/>
              </a:spcBef>
              <a:defRPr sz="1300">
                <a:solidFill>
                  <a:srgbClr val="B4AAA0"/>
                </a:solidFill>
                <a:latin typeface="Arial"/>
              </a:defRPr>
            </a:pPr>
            <a:r>
              <a:t>4. Power BI Report File: MaxiFoods_PowerBI_Report.pbix (Direct OLAP Connection)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